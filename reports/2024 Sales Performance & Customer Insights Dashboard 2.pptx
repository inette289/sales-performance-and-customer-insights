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to Data" id="{4C6C4B69-4BE0-42A2-9256-FADFAA4AF0DB}">
          <p14:sldIdLst>
            <p14:sldId id="256"/>
            <p14:sldId id="260"/>
          </p14:sldIdLst>
        </p14:section>
        <p14:section name="Data Report" id="{8BA0EBB6-B8B0-497A-99EB-36B421BA9C3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Overall Data Insight" id="{DE7C0D01-CDD9-472C-B270-276C60E4CDE2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971" autoAdjust="0"/>
    <p:restoredTop sz="81315" autoAdjust="0"/>
  </p:normalViewPr>
  <p:slideViewPr>
    <p:cSldViewPr snapToGrid="0">
      <p:cViewPr varScale="1">
        <p:scale>
          <a:sx n="63" d="100"/>
          <a:sy n="63" d="100"/>
        </p:scale>
        <p:origin x="246" y="60"/>
      </p:cViewPr>
      <p:guideLst/>
    </p:cSldViewPr>
  </p:slideViewPr>
  <p:notesTextViewPr>
    <p:cViewPr>
      <p:scale>
        <a:sx n="3" d="2"/>
        <a:sy n="3" d="2"/>
      </p:scale>
      <p:origin x="0" y="-42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279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6B91A-51FE-4746-B8F7-A186020DDD93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B7317-C349-4660-A8C9-4E7FA28AC12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9858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“Today I’ll be walking you through our 2024 sales performance and customer insights.</a:t>
            </a:r>
            <a:br>
              <a:rPr lang="en-ZA" dirty="0"/>
            </a:br>
            <a:r>
              <a:rPr lang="en-ZA" dirty="0"/>
              <a:t>The objective of this analysis is to understand overall sales results, identify what is driving revenue, and highlight opportunities to improve performance going forward.</a:t>
            </a:r>
            <a:br>
              <a:rPr lang="en-ZA" dirty="0"/>
            </a:br>
            <a:r>
              <a:rPr lang="en-ZA" dirty="0"/>
              <a:t>All insights are based on transactional sales data summarized in this dashboard.”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79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“To summarize the year, total sales in 2024 reached </a:t>
            </a:r>
            <a:r>
              <a:rPr lang="en-ZA" b="1" dirty="0"/>
              <a:t>R3,202.59</a:t>
            </a:r>
            <a:r>
              <a:rPr lang="en-ZA" dirty="0"/>
              <a:t> from </a:t>
            </a:r>
            <a:r>
              <a:rPr lang="en-ZA" b="1" dirty="0"/>
              <a:t>200 orders</a:t>
            </a:r>
            <a:r>
              <a:rPr lang="en-ZA" dirty="0"/>
              <a:t>.</a:t>
            </a:r>
            <a:br>
              <a:rPr lang="en-ZA" dirty="0"/>
            </a:br>
            <a:r>
              <a:rPr lang="en-ZA" dirty="0"/>
              <a:t>Revenue peaked strongly in </a:t>
            </a:r>
            <a:r>
              <a:rPr lang="en-ZA" b="1" dirty="0"/>
              <a:t>September</a:t>
            </a:r>
            <a:r>
              <a:rPr lang="en-ZA" dirty="0"/>
              <a:t>, indicating seasonal or campaign-driven demand.</a:t>
            </a:r>
            <a:br>
              <a:rPr lang="en-ZA" dirty="0"/>
            </a:br>
            <a:r>
              <a:rPr lang="en-ZA" dirty="0"/>
              <a:t>Sales are highly concentrated, with a small group of customers contributing a large portion of revenue.</a:t>
            </a:r>
            <a:br>
              <a:rPr lang="en-ZA" dirty="0"/>
            </a:br>
            <a:r>
              <a:rPr lang="en-ZA" dirty="0"/>
              <a:t>From a geographic perspective, the </a:t>
            </a:r>
            <a:r>
              <a:rPr lang="en-ZA" b="1" dirty="0"/>
              <a:t>UK stands out as the strongest market</a:t>
            </a:r>
            <a:r>
              <a:rPr lang="en-ZA" dirty="0"/>
              <a:t>, leading in both revenue and number of unique buyers.</a:t>
            </a:r>
            <a:br>
              <a:rPr lang="en-ZA" dirty="0"/>
            </a:br>
            <a:r>
              <a:rPr lang="en-ZA" dirty="0"/>
              <a:t>These patterns highlight strong performance, but also areas of risk and opportunity.”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364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“This slide shows our key performance indicators for the year.</a:t>
            </a:r>
            <a:br>
              <a:rPr lang="en-ZA" dirty="0"/>
            </a:br>
            <a:r>
              <a:rPr lang="en-ZA" dirty="0"/>
              <a:t>We achieved total revenue of </a:t>
            </a:r>
            <a:r>
              <a:rPr lang="en-ZA" b="1" dirty="0"/>
              <a:t>R3,202.59</a:t>
            </a:r>
            <a:r>
              <a:rPr lang="en-ZA" dirty="0"/>
              <a:t> across </a:t>
            </a:r>
            <a:r>
              <a:rPr lang="en-ZA" b="1" dirty="0"/>
              <a:t>200 orders</a:t>
            </a:r>
            <a:r>
              <a:rPr lang="en-ZA" dirty="0"/>
              <a:t>, resulting in an average order value of approximately </a:t>
            </a:r>
            <a:r>
              <a:rPr lang="en-ZA" b="1" dirty="0"/>
              <a:t>R16.01</a:t>
            </a:r>
            <a:r>
              <a:rPr lang="en-ZA" dirty="0"/>
              <a:t>.</a:t>
            </a:r>
            <a:br>
              <a:rPr lang="en-ZA" dirty="0"/>
            </a:br>
            <a:r>
              <a:rPr lang="en-ZA" dirty="0"/>
              <a:t>The UK accounts for the largest share of revenue at </a:t>
            </a:r>
            <a:r>
              <a:rPr lang="en-ZA" b="1" dirty="0"/>
              <a:t>25%</a:t>
            </a:r>
            <a:r>
              <a:rPr lang="en-ZA" dirty="0"/>
              <a:t>, reinforcing its importance as our core market.</a:t>
            </a:r>
            <a:br>
              <a:rPr lang="en-ZA" dirty="0"/>
            </a:br>
            <a:r>
              <a:rPr lang="en-ZA" dirty="0"/>
              <a:t>While overall performance is positive, the KPIs suggest reliance on specific markets and customers, which we explore further in the following slides.”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9274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“Here we see the monthly revenue trend across 2024.</a:t>
            </a:r>
            <a:br>
              <a:rPr lang="en-ZA" dirty="0"/>
            </a:br>
            <a:r>
              <a:rPr lang="en-ZA" dirty="0"/>
              <a:t>Revenue remains relatively stable for most of the year but shows a </a:t>
            </a:r>
            <a:r>
              <a:rPr lang="en-ZA" b="1" dirty="0"/>
              <a:t>significant spike in September</a:t>
            </a:r>
            <a:r>
              <a:rPr lang="en-ZA" dirty="0"/>
              <a:t>.</a:t>
            </a:r>
            <a:br>
              <a:rPr lang="en-ZA" dirty="0"/>
            </a:br>
            <a:r>
              <a:rPr lang="en-ZA" dirty="0"/>
              <a:t>This peak suggests seasonal demand or the impact of targeted promotions.</a:t>
            </a:r>
            <a:br>
              <a:rPr lang="en-ZA" dirty="0"/>
            </a:br>
            <a:r>
              <a:rPr lang="en-ZA" dirty="0"/>
              <a:t>Following September, revenue declines, which indicates volatility rather than consistent growth.</a:t>
            </a:r>
            <a:br>
              <a:rPr lang="en-ZA" dirty="0"/>
            </a:br>
            <a:r>
              <a:rPr lang="en-ZA" dirty="0"/>
              <a:t>This pattern highlights the need to smooth revenue across the year through better demand planning or off-peak promotions.”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7944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“This chart highlights the top 10 products ranked by revenue contribution.</a:t>
            </a:r>
            <a:br>
              <a:rPr lang="en-ZA" dirty="0"/>
            </a:br>
            <a:r>
              <a:rPr lang="en-ZA" dirty="0"/>
              <a:t>We can clearly see that a small number of products generate the majority of total sales.</a:t>
            </a:r>
            <a:br>
              <a:rPr lang="en-ZA" dirty="0"/>
            </a:br>
            <a:r>
              <a:rPr lang="en-ZA" dirty="0"/>
              <a:t>This concentration suggests that these products are critical revenue drivers and should be prioritized in inventory, marketing, and pricing strategies.</a:t>
            </a:r>
            <a:br>
              <a:rPr lang="en-ZA" dirty="0"/>
            </a:br>
            <a:r>
              <a:rPr lang="en-ZA" dirty="0"/>
              <a:t>At the same time, it presents an opportunity to improve performance of lower-ranking products through bundling or targeted promotions.”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3527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“This slide breaks down revenue by country.</a:t>
            </a:r>
            <a:br>
              <a:rPr lang="en-ZA" dirty="0"/>
            </a:br>
            <a:r>
              <a:rPr lang="en-ZA" dirty="0"/>
              <a:t>The </a:t>
            </a:r>
            <a:r>
              <a:rPr lang="en-ZA" b="1" dirty="0"/>
              <a:t>United Kingdom leads</a:t>
            </a:r>
            <a:r>
              <a:rPr lang="en-ZA" dirty="0"/>
              <a:t> in revenue contribution, followed by Spain and Germany.</a:t>
            </a:r>
            <a:br>
              <a:rPr lang="en-ZA" dirty="0"/>
            </a:br>
            <a:r>
              <a:rPr lang="en-ZA" dirty="0"/>
              <a:t>France and the Netherlands generate lower but still meaningful revenue levels.</a:t>
            </a:r>
            <a:br>
              <a:rPr lang="en-ZA" dirty="0"/>
            </a:br>
            <a:r>
              <a:rPr lang="en-ZA" dirty="0"/>
              <a:t>The dominance of the UK market suggests strong product-market fit, while other countries represent growth opportunities if supported with localized marketing and sales strategies.”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285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“This slide focuses on customer </a:t>
            </a:r>
            <a:r>
              <a:rPr lang="en-ZA" dirty="0" err="1"/>
              <a:t>behavior</a:t>
            </a:r>
            <a:r>
              <a:rPr lang="en-ZA" dirty="0"/>
              <a:t> and revenue concentration.</a:t>
            </a:r>
            <a:br>
              <a:rPr lang="en-ZA" dirty="0"/>
            </a:br>
            <a:r>
              <a:rPr lang="en-ZA" dirty="0"/>
              <a:t>The customer frequency chart shows that many customers place only a small number of orders.</a:t>
            </a:r>
            <a:br>
              <a:rPr lang="en-ZA" dirty="0"/>
            </a:br>
            <a:r>
              <a:rPr lang="en-ZA" dirty="0"/>
              <a:t>The Pareto-style contribution chart reveals that a </a:t>
            </a:r>
            <a:r>
              <a:rPr lang="en-ZA" b="1" dirty="0"/>
              <a:t>small percentage of customers contribute a large share of total revenue</a:t>
            </a:r>
            <a:r>
              <a:rPr lang="en-ZA" dirty="0"/>
              <a:t>.</a:t>
            </a:r>
            <a:br>
              <a:rPr lang="en-ZA" dirty="0"/>
            </a:br>
            <a:r>
              <a:rPr lang="en-ZA" dirty="0"/>
              <a:t>This creates dependency risk, as losing a few high-value customers could significantly impact overall sales.</a:t>
            </a:r>
            <a:br>
              <a:rPr lang="en-ZA" dirty="0"/>
            </a:br>
            <a:r>
              <a:rPr lang="en-ZA" dirty="0"/>
              <a:t>It highlights the importance of retention strategies and customer relationship management.”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2007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“This map shows the number of unique customers by country.</a:t>
            </a:r>
            <a:br>
              <a:rPr lang="en-ZA" dirty="0"/>
            </a:br>
            <a:r>
              <a:rPr lang="en-ZA" dirty="0"/>
              <a:t>The </a:t>
            </a:r>
            <a:r>
              <a:rPr lang="en-ZA" b="1" dirty="0"/>
              <a:t>UK has the highest number of unique customers</a:t>
            </a:r>
            <a:r>
              <a:rPr lang="en-ZA" dirty="0"/>
              <a:t>, aligning with its strong revenue performance.</a:t>
            </a:r>
            <a:br>
              <a:rPr lang="en-ZA" dirty="0"/>
            </a:br>
            <a:r>
              <a:rPr lang="en-ZA" dirty="0"/>
              <a:t>Spain, Germany, France, and the Netherlands follow with smaller customer bases.</a:t>
            </a:r>
            <a:br>
              <a:rPr lang="en-ZA" dirty="0"/>
            </a:br>
            <a:r>
              <a:rPr lang="en-ZA" dirty="0"/>
              <a:t>This confirms that revenue strength in the UK is driven not only by high-value orders but also by a larger customer base.”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103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“Bringing all insights together, several key themes emerge.</a:t>
            </a:r>
            <a:br>
              <a:rPr lang="en-ZA" dirty="0"/>
            </a:br>
            <a:r>
              <a:rPr lang="en-ZA" dirty="0"/>
              <a:t>Revenue shows </a:t>
            </a:r>
            <a:r>
              <a:rPr lang="en-ZA" b="1" dirty="0"/>
              <a:t>seasonal volatility</a:t>
            </a:r>
            <a:r>
              <a:rPr lang="en-ZA" dirty="0"/>
              <a:t>, with a strong September peak.</a:t>
            </a:r>
            <a:br>
              <a:rPr lang="en-ZA" dirty="0"/>
            </a:br>
            <a:r>
              <a:rPr lang="en-ZA" dirty="0"/>
              <a:t>Sales are </a:t>
            </a:r>
            <a:r>
              <a:rPr lang="en-ZA" b="1" dirty="0"/>
              <a:t>highly concentrated</a:t>
            </a:r>
            <a:r>
              <a:rPr lang="en-ZA" dirty="0"/>
              <a:t> across top customers and top products.</a:t>
            </a:r>
            <a:br>
              <a:rPr lang="en-ZA" dirty="0"/>
            </a:br>
            <a:r>
              <a:rPr lang="en-ZA" dirty="0"/>
              <a:t>Geographically, the UK dominates both revenue and customer volume.</a:t>
            </a:r>
            <a:br>
              <a:rPr lang="en-ZA" dirty="0"/>
            </a:br>
            <a:r>
              <a:rPr lang="en-ZA" dirty="0"/>
              <a:t>These insights point to strong performance, but also underline risks related to concentration and seasonality.”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3909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“Based on these findings, several actions are recommended.</a:t>
            </a:r>
            <a:br>
              <a:rPr lang="en-ZA" dirty="0"/>
            </a:br>
            <a:r>
              <a:rPr lang="en-ZA" dirty="0"/>
              <a:t>First, strengthen </a:t>
            </a:r>
            <a:r>
              <a:rPr lang="en-ZA" b="1" dirty="0"/>
              <a:t>customer retention strategies</a:t>
            </a:r>
            <a:r>
              <a:rPr lang="en-ZA" dirty="0"/>
              <a:t> to reduce dependency on a small group of high-value customers.</a:t>
            </a:r>
            <a:br>
              <a:rPr lang="en-ZA" dirty="0"/>
            </a:br>
            <a:r>
              <a:rPr lang="en-ZA" dirty="0"/>
              <a:t>Second, introduce </a:t>
            </a:r>
            <a:r>
              <a:rPr lang="en-ZA" b="1" dirty="0"/>
              <a:t>targeted promotions during lower-performing months</a:t>
            </a:r>
            <a:r>
              <a:rPr lang="en-ZA" dirty="0"/>
              <a:t> to smooth seasonal revenue fluctuations.</a:t>
            </a:r>
            <a:br>
              <a:rPr lang="en-ZA" dirty="0"/>
            </a:br>
            <a:r>
              <a:rPr lang="en-ZA" dirty="0"/>
              <a:t>Third, continue to invest in the UK market through localized offers and marketing efforts.</a:t>
            </a:r>
            <a:br>
              <a:rPr lang="en-ZA" dirty="0"/>
            </a:br>
            <a:r>
              <a:rPr lang="en-ZA" dirty="0"/>
              <a:t>Finally, focus on expanding sales of mid-performing products to diversify revenue streams.</a:t>
            </a:r>
            <a:br>
              <a:rPr lang="en-ZA" dirty="0"/>
            </a:br>
            <a:r>
              <a:rPr lang="en-ZA" dirty="0"/>
              <a:t>These steps will support more stable and sustainable growth moving forward.”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B7317-C349-4660-A8C9-4E7FA28AC125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0995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493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209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955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941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149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778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493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27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308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1522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208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7231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3568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183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7840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8766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895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2A4B59D-1FA1-41C7-B8A3-518214301579}" type="datetimeFigureOut">
              <a:rPr lang="en-ZA" smtClean="0"/>
              <a:t>2026/01/12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F4B6BEB-5B12-4870-8D5D-FAED5D8E19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410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1000"/>
                <a:lumOff val="99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857010-138F-47E7-AA2B-6300725E6B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4" t="7766" r="18073"/>
          <a:stretch/>
        </p:blipFill>
        <p:spPr>
          <a:xfrm>
            <a:off x="9632026" y="4677444"/>
            <a:ext cx="1797080" cy="1672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DBD816-674F-4BA8-AE14-18245AB67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437" y="429766"/>
            <a:ext cx="8885129" cy="2798307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pPr algn="ctr"/>
            <a:r>
              <a:rPr lang="en-ZA" sz="6000" b="1" u="sng" dirty="0">
                <a:ln w="38100">
                  <a:solidFill>
                    <a:srgbClr val="FF9900"/>
                  </a:solidFill>
                  <a:prstDash val="solid"/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2024 Sales Performance &amp; Customer Insights </a:t>
            </a:r>
            <a:endParaRPr lang="en-ZA" b="1" dirty="0">
              <a:ln w="38100">
                <a:solidFill>
                  <a:srgbClr val="FF9900"/>
                </a:solidFill>
                <a:prstDash val="solid"/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2461D-6454-432B-9CDB-0ADF6253E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720" y="3619252"/>
            <a:ext cx="8885129" cy="2116385"/>
          </a:xfrm>
        </p:spPr>
        <p:txBody>
          <a:bodyPr>
            <a:normAutofit lnSpcReduction="10000"/>
          </a:bodyPr>
          <a:lstStyle/>
          <a:p>
            <a:pPr algn="ctr"/>
            <a:r>
              <a:rPr lang="en-ZA" sz="3500" b="1" dirty="0">
                <a:ln w="22225">
                  <a:solidFill>
                    <a:srgbClr val="FFCC66"/>
                  </a:solidFill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Data-driven analysis of revenue, customers, and markets</a:t>
            </a:r>
            <a:endParaRPr lang="en-ZA" sz="3500" b="1" dirty="0">
              <a:ln w="22225">
                <a:solidFill>
                  <a:srgbClr val="FFCC66"/>
                </a:solidFill>
                <a:prstDash val="solid"/>
              </a:ln>
              <a:solidFill>
                <a:schemeClr val="tx1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en-ZA" sz="2600" b="1" dirty="0">
                <a:ln w="22225">
                  <a:solidFill>
                    <a:srgbClr val="FFCC66"/>
                  </a:solidFill>
                  <a:prstDash val="solid"/>
                </a:ln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Inette </a:t>
            </a:r>
            <a:r>
              <a:rPr lang="en-ZA" sz="2600" b="1" dirty="0" err="1">
                <a:ln w="22225">
                  <a:solidFill>
                    <a:srgbClr val="FFCC66"/>
                  </a:solidFill>
                  <a:prstDash val="solid"/>
                </a:ln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Badenhorst</a:t>
            </a:r>
            <a:endParaRPr lang="en-ZA" sz="2600" b="1" dirty="0">
              <a:ln w="22225">
                <a:solidFill>
                  <a:srgbClr val="FFCC66"/>
                </a:solidFill>
                <a:prstDash val="solid"/>
              </a:ln>
              <a:solidFill>
                <a:schemeClr val="tx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ZA" sz="2600" b="1" dirty="0">
                <a:ln w="22225">
                  <a:solidFill>
                    <a:srgbClr val="FFCC66"/>
                  </a:solidFill>
                  <a:prstDash val="solid"/>
                </a:ln>
                <a:solidFill>
                  <a:schemeClr val="tx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2025/12/13</a:t>
            </a:r>
            <a:endParaRPr lang="en-ZA" sz="2200" b="1" dirty="0">
              <a:ln w="22225">
                <a:solidFill>
                  <a:srgbClr val="FFCC66"/>
                </a:solidFill>
                <a:prstDash val="solid"/>
              </a:ln>
              <a:solidFill>
                <a:schemeClr val="tx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012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C2B36E-FA1E-46B6-B0BE-0355FF54FF85}"/>
              </a:ext>
            </a:extLst>
          </p:cNvPr>
          <p:cNvSpPr txBox="1"/>
          <p:nvPr/>
        </p:nvSpPr>
        <p:spPr>
          <a:xfrm>
            <a:off x="782877" y="854752"/>
            <a:ext cx="10459233" cy="52173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5400" b="1" u="sng" dirty="0">
                <a:ln>
                  <a:solidFill>
                    <a:schemeClr val="tx1"/>
                  </a:solidFill>
                </a:ln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Executive Summary</a:t>
            </a:r>
          </a:p>
          <a:p>
            <a:pPr algn="ctr"/>
            <a:endParaRPr lang="en-ZA" b="1" dirty="0">
              <a:ln/>
              <a:solidFill>
                <a:schemeClr val="accent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endParaRPr lang="en-ZA" b="1" dirty="0">
              <a:ln/>
              <a:solidFill>
                <a:schemeClr val="accent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3200" b="1" dirty="0">
                <a:ln w="3175"/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R3,202.59 revenue generated from 200 orders in 2024.</a:t>
            </a:r>
          </a:p>
          <a:p>
            <a:pPr algn="ctr">
              <a:lnSpc>
                <a:spcPct val="150000"/>
              </a:lnSpc>
            </a:pPr>
            <a:r>
              <a:rPr lang="en-ZA" sz="3200" b="1" dirty="0">
                <a:ln w="3175"/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Seasonal Revenue spike </a:t>
            </a:r>
            <a:r>
              <a:rPr lang="en-ZA" sz="3200" b="1">
                <a:ln w="3175"/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September.</a:t>
            </a:r>
            <a:endParaRPr lang="en-ZA" sz="3200" b="1" dirty="0">
              <a:ln w="3175"/>
              <a:solidFill>
                <a:srgbClr val="FF99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ZA" sz="3200" b="1" dirty="0">
                <a:ln w="3175"/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Revenue highly concentrated among top customers.</a:t>
            </a:r>
          </a:p>
          <a:p>
            <a:pPr algn="ctr">
              <a:lnSpc>
                <a:spcPct val="150000"/>
              </a:lnSpc>
            </a:pPr>
            <a:r>
              <a:rPr lang="en-ZA" sz="3200" b="1" dirty="0">
                <a:ln w="3175"/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UK leads in both revenue and unique buyers.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FC59AA-4B49-44D4-B440-3F74AF65039C}"/>
              </a:ext>
            </a:extLst>
          </p:cNvPr>
          <p:cNvCxnSpPr>
            <a:cxnSpLocks/>
          </p:cNvCxnSpPr>
          <p:nvPr/>
        </p:nvCxnSpPr>
        <p:spPr>
          <a:xfrm>
            <a:off x="162838" y="513567"/>
            <a:ext cx="116993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C9D21F-1226-4207-9492-8E40D022256F}"/>
              </a:ext>
            </a:extLst>
          </p:cNvPr>
          <p:cNvCxnSpPr/>
          <p:nvPr/>
        </p:nvCxnSpPr>
        <p:spPr>
          <a:xfrm>
            <a:off x="388307" y="253651"/>
            <a:ext cx="0" cy="6350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77A875-19E0-4E5D-A151-20935FD064AB}"/>
              </a:ext>
            </a:extLst>
          </p:cNvPr>
          <p:cNvCxnSpPr>
            <a:cxnSpLocks/>
          </p:cNvCxnSpPr>
          <p:nvPr/>
        </p:nvCxnSpPr>
        <p:spPr>
          <a:xfrm>
            <a:off x="162838" y="6413326"/>
            <a:ext cx="116993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6B63DE-599A-4134-8D10-7C5BF3280689}"/>
              </a:ext>
            </a:extLst>
          </p:cNvPr>
          <p:cNvCxnSpPr/>
          <p:nvPr/>
        </p:nvCxnSpPr>
        <p:spPr>
          <a:xfrm flipV="1">
            <a:off x="11636679" y="253651"/>
            <a:ext cx="0" cy="6350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4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1BA104-FA59-46F3-827A-7BE60D126482}"/>
              </a:ext>
            </a:extLst>
          </p:cNvPr>
          <p:cNvSpPr/>
          <p:nvPr/>
        </p:nvSpPr>
        <p:spPr>
          <a:xfrm>
            <a:off x="2081827" y="1490921"/>
            <a:ext cx="3343790" cy="1402903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1600" b="1" baseline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Total Revenue</a:t>
            </a:r>
            <a:endParaRPr lang="en-ZA" sz="1600" b="1" dirty="0">
              <a:ln>
                <a:noFill/>
              </a:ln>
              <a:effectLst/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ZA" sz="4800" b="1" i="0" baseline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R3202,59</a:t>
            </a:r>
            <a:endParaRPr lang="en-ZA" sz="4800" b="1" dirty="0">
              <a:ln>
                <a:noFill/>
              </a:ln>
              <a:effectLst/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l"/>
            <a:endParaRPr lang="en-ZA" sz="1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457968-4501-4BC7-911D-856F6CCE0BCD}"/>
              </a:ext>
            </a:extLst>
          </p:cNvPr>
          <p:cNvSpPr/>
          <p:nvPr/>
        </p:nvSpPr>
        <p:spPr>
          <a:xfrm>
            <a:off x="6356497" y="1490921"/>
            <a:ext cx="3296718" cy="1393957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1600" i="0" u="none" strike="noStrik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Total Orders</a:t>
            </a:r>
            <a:r>
              <a:rPr lang="en-Z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  <a:p>
            <a:pPr algn="ctr"/>
            <a:r>
              <a:rPr lang="en-ZA" sz="5400" i="0" u="none" strike="noStrik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200</a:t>
            </a:r>
            <a:r>
              <a:rPr lang="en-Z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C049EB-A5F9-44D5-A61C-31C6920D7899}"/>
              </a:ext>
            </a:extLst>
          </p:cNvPr>
          <p:cNvSpPr/>
          <p:nvPr/>
        </p:nvSpPr>
        <p:spPr>
          <a:xfrm>
            <a:off x="2081827" y="3599859"/>
            <a:ext cx="3343790" cy="1402903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1600" b="1" dirty="0">
                <a:latin typeface="Segoe UI Bold" panose="020B0802040204020203" pitchFamily="34" charset="0"/>
                <a:cs typeface="Segoe UI Bold" panose="020B0802040204020203" pitchFamily="34" charset="0"/>
              </a:rPr>
              <a:t>AOV</a:t>
            </a:r>
          </a:p>
          <a:p>
            <a:pPr algn="ctr"/>
            <a:r>
              <a:rPr lang="en-ZA" sz="4800" b="1" dirty="0">
                <a:latin typeface="Segoe UI Bold" panose="020B0802040204020203" pitchFamily="34" charset="0"/>
                <a:cs typeface="Segoe UI Bold" panose="020B0802040204020203" pitchFamily="34" charset="0"/>
              </a:rPr>
              <a:t>R 16,01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67E287-1CCC-4308-8265-E93CEB5461A0}"/>
              </a:ext>
            </a:extLst>
          </p:cNvPr>
          <p:cNvSpPr/>
          <p:nvPr/>
        </p:nvSpPr>
        <p:spPr>
          <a:xfrm>
            <a:off x="6292452" y="3593593"/>
            <a:ext cx="3360763" cy="1409169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1600" b="1" baseline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Bold" panose="020B0802040204020203" pitchFamily="34" charset="0"/>
                <a:cs typeface="Segoe UI Bold" panose="020B0802040204020203" pitchFamily="34" charset="0"/>
              </a:rPr>
              <a:t>Revenue By Country</a:t>
            </a:r>
            <a:endParaRPr lang="en-ZA" sz="1600" b="1" dirty="0">
              <a:ln>
                <a:noFill/>
              </a:ln>
              <a:effectLst/>
              <a:latin typeface="Segoe UI Bold" panose="020B0802040204020203" pitchFamily="34" charset="0"/>
              <a:cs typeface="Segoe UI Bold" panose="020B0802040204020203" pitchFamily="34" charset="0"/>
            </a:endParaRPr>
          </a:p>
          <a:p>
            <a:pPr algn="ctr"/>
            <a:r>
              <a:rPr lang="en-ZA" sz="4800" b="1" dirty="0">
                <a:ln>
                  <a:noFill/>
                </a:ln>
                <a:effectLst/>
                <a:latin typeface="Segoe UI Bold" panose="020B0802040204020203" pitchFamily="34" charset="0"/>
                <a:cs typeface="Segoe UI Bold" panose="020B0802040204020203" pitchFamily="34" charset="0"/>
              </a:rPr>
              <a:t>UK 25%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A7C19-F9F5-40A0-8C1D-6FE94ADD8F54}"/>
              </a:ext>
            </a:extLst>
          </p:cNvPr>
          <p:cNvSpPr txBox="1"/>
          <p:nvPr/>
        </p:nvSpPr>
        <p:spPr>
          <a:xfrm>
            <a:off x="772438" y="5589476"/>
            <a:ext cx="10647124" cy="9541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Sales performance shows strong revenue but reliance on a limited customer base.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6ACC1F5-3BD6-436C-A5F0-49DAFA39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721" y="-35381"/>
            <a:ext cx="10515600" cy="1325563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44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OVERALL SALES PERFORMANCE- 2024</a:t>
            </a:r>
          </a:p>
        </p:txBody>
      </p:sp>
    </p:spTree>
    <p:extLst>
      <p:ext uri="{BB962C8B-B14F-4D97-AF65-F5344CB8AC3E}">
        <p14:creationId xmlns:p14="http://schemas.microsoft.com/office/powerpoint/2010/main" val="162738959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6AA7-EF9A-4128-8442-7FBAFCE1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7245"/>
            <a:ext cx="10515600" cy="1325563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b="1" cap="none" dirty="0">
                <a:ln/>
                <a:solidFill>
                  <a:schemeClr val="accent3"/>
                </a:solidFill>
              </a:rPr>
              <a:t>       </a:t>
            </a:r>
            <a:r>
              <a:rPr lang="en-ZA" sz="49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Monthly Revenue Trend </a:t>
            </a:r>
            <a:r>
              <a:rPr lang="en-ZA" sz="53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(2024)</a:t>
            </a:r>
            <a:endParaRPr lang="en-ZA" b="1" u="sng" cap="none" dirty="0">
              <a:ln/>
              <a:solidFill>
                <a:srgbClr val="FF9900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69315-7030-4CC1-AC28-1F45CBA298D6}"/>
              </a:ext>
            </a:extLst>
          </p:cNvPr>
          <p:cNvSpPr txBox="1"/>
          <p:nvPr/>
        </p:nvSpPr>
        <p:spPr>
          <a:xfrm>
            <a:off x="96129" y="5761808"/>
            <a:ext cx="11999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peaked in September, followed by a decline, suggesting seasonal demand and potential promotion-driven spikes.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AFE84-DC03-4B8D-9FFA-15F8CCDA8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818" y="1269000"/>
            <a:ext cx="9268364" cy="432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7460DF-9DF0-40E3-8BF0-6606F48CB519}"/>
              </a:ext>
            </a:extLst>
          </p:cNvPr>
          <p:cNvSpPr txBox="1"/>
          <p:nvPr/>
        </p:nvSpPr>
        <p:spPr>
          <a:xfrm>
            <a:off x="838200" y="0"/>
            <a:ext cx="820498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6600" dirty="0"/>
              <a:t>📈</a:t>
            </a:r>
          </a:p>
        </p:txBody>
      </p:sp>
    </p:spTree>
    <p:extLst>
      <p:ext uri="{BB962C8B-B14F-4D97-AF65-F5344CB8AC3E}">
        <p14:creationId xmlns:p14="http://schemas.microsoft.com/office/powerpoint/2010/main" val="18540894"/>
      </p:ext>
    </p:extLst>
  </p:cSld>
  <p:clrMapOvr>
    <a:masterClrMapping/>
  </p:clrMapOvr>
  <p:transition spd="slow"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2012-770A-4C25-B17E-5D641E55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6056"/>
            <a:ext cx="10515600" cy="1325563"/>
          </a:xfrm>
        </p:spPr>
        <p:txBody>
          <a:bodyPr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ZA" sz="6000" b="1" cap="none" dirty="0">
                <a:ln/>
                <a:solidFill>
                  <a:schemeClr val="accent3"/>
                </a:solidFill>
              </a:rPr>
              <a:t>       </a:t>
            </a:r>
            <a:r>
              <a:rPr lang="en-ZA" sz="40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Top Revenue-Generating Products</a:t>
            </a:r>
            <a:endParaRPr lang="en-ZA" sz="6000" b="1" u="sng" cap="none" dirty="0">
              <a:ln/>
              <a:solidFill>
                <a:srgbClr val="FF9900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5BE24-FC17-49A9-B261-A01D541024D6}"/>
              </a:ext>
            </a:extLst>
          </p:cNvPr>
          <p:cNvSpPr txBox="1"/>
          <p:nvPr/>
        </p:nvSpPr>
        <p:spPr>
          <a:xfrm>
            <a:off x="1120833" y="0"/>
            <a:ext cx="60983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8000" dirty="0"/>
              <a:t>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26A7B-1949-41BD-A4EF-ADAE95615B26}"/>
              </a:ext>
            </a:extLst>
          </p:cNvPr>
          <p:cNvSpPr txBox="1"/>
          <p:nvPr/>
        </p:nvSpPr>
        <p:spPr>
          <a:xfrm>
            <a:off x="140677" y="5814061"/>
            <a:ext cx="12051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is driven primarily by a small number of top-performing products, indicating opportunities for focused inventory and marketing strategies.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BE9686-B001-4041-9C2C-61CEFC76F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414" y="1325563"/>
            <a:ext cx="9125848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2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6AB4-645E-4D98-8024-DC947F54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023"/>
            <a:ext cx="10515600" cy="1325563"/>
          </a:xfrm>
        </p:spPr>
        <p:txBody>
          <a:bodyPr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48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Revenue by Country</a:t>
            </a:r>
            <a:endParaRPr lang="en-ZA" b="1" u="sng" cap="none" dirty="0">
              <a:ln/>
              <a:solidFill>
                <a:srgbClr val="FF9900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EA413-ECDD-40A3-8296-323B825F041D}"/>
              </a:ext>
            </a:extLst>
          </p:cNvPr>
          <p:cNvSpPr txBox="1"/>
          <p:nvPr/>
        </p:nvSpPr>
        <p:spPr>
          <a:xfrm>
            <a:off x="1869974" y="-49307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7200" dirty="0"/>
              <a:t>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EFB64-A662-4036-8BAA-1AB1510AFDC3}"/>
              </a:ext>
            </a:extLst>
          </p:cNvPr>
          <p:cNvSpPr txBox="1"/>
          <p:nvPr/>
        </p:nvSpPr>
        <p:spPr>
          <a:xfrm>
            <a:off x="609600" y="5854658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The UK leads in revenue contribution, followed by Spain and Germany, making it the strongest target market for expansion.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2C1EF-4857-4F51-8B5C-7599B8C2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08" y="1269000"/>
            <a:ext cx="906978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9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thruBlk="1"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9062-EE2F-461F-BDA2-5D1A0B42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753" y="-129808"/>
            <a:ext cx="10515600" cy="1325563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b="1" cap="none" dirty="0">
                <a:ln/>
                <a:solidFill>
                  <a:schemeClr val="accent3"/>
                </a:solidFill>
              </a:rPr>
              <a:t> </a:t>
            </a:r>
            <a:r>
              <a:rPr lang="en-ZA" sz="4400" b="1" u="sng" cap="none" dirty="0">
                <a:ln>
                  <a:noFill/>
                </a:ln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Customer Concentration Analysis</a:t>
            </a:r>
            <a:endParaRPr lang="en-ZA" b="1" u="sng" cap="none" dirty="0">
              <a:ln>
                <a:noFill/>
              </a:ln>
              <a:solidFill>
                <a:srgbClr val="FF9900"/>
              </a:solidFill>
              <a:latin typeface="Segoe UI Bold" panose="020B08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9C7A5-3EFE-4D3D-ACAE-8167B933EC15}"/>
              </a:ext>
            </a:extLst>
          </p:cNvPr>
          <p:cNvSpPr txBox="1"/>
          <p:nvPr/>
        </p:nvSpPr>
        <p:spPr>
          <a:xfrm>
            <a:off x="963316" y="-113546"/>
            <a:ext cx="6098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7200" dirty="0">
                <a:solidFill>
                  <a:schemeClr val="tx1">
                    <a:lumMod val="75000"/>
                  </a:schemeClr>
                </a:solidFill>
              </a:rPr>
              <a:t>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4830B-DBDC-44E8-893A-71EC394207F4}"/>
              </a:ext>
            </a:extLst>
          </p:cNvPr>
          <p:cNvSpPr txBox="1"/>
          <p:nvPr/>
        </p:nvSpPr>
        <p:spPr>
          <a:xfrm>
            <a:off x="464234" y="5894363"/>
            <a:ext cx="10923562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small group of customers contributes a disproportionately large share of total revenue, creating dependency risk.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E7ABF-A06A-443E-977C-BCBC2BB4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631"/>
            <a:ext cx="7581207" cy="4361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102E17-A38F-4ED9-90EC-9A886364D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673" y="931025"/>
            <a:ext cx="5874328" cy="332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7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B9DA40-3E08-425A-89A7-76336EF954CD}"/>
              </a:ext>
            </a:extLst>
          </p:cNvPr>
          <p:cNvSpPr txBox="1"/>
          <p:nvPr/>
        </p:nvSpPr>
        <p:spPr>
          <a:xfrm rot="20892107">
            <a:off x="740449" y="-438010"/>
            <a:ext cx="60845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8000" dirty="0"/>
              <a:t>🗺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11A08-80C7-4FD5-85D5-A569B327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559" y="-188535"/>
            <a:ext cx="10515600" cy="1325563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48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Unique Customers by Country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0539E-BAC2-4406-941F-010CD45FD7B5}"/>
              </a:ext>
            </a:extLst>
          </p:cNvPr>
          <p:cNvSpPr txBox="1"/>
          <p:nvPr/>
        </p:nvSpPr>
        <p:spPr>
          <a:xfrm>
            <a:off x="851771" y="5803293"/>
            <a:ext cx="10652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The UK has the highest number of unique customers, reinforcing its importance as the core market.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3B2AA-2C3D-4477-A83D-D6BD4AF7C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115" y="1273056"/>
            <a:ext cx="908376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06345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4BCA80-7D66-497C-B8F0-C70C1107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184" y="359188"/>
            <a:ext cx="10515600" cy="1325563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ZA" sz="54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Key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1C545-A217-45CF-808B-368BF966CE19}"/>
              </a:ext>
            </a:extLst>
          </p:cNvPr>
          <p:cNvSpPr txBox="1"/>
          <p:nvPr/>
        </p:nvSpPr>
        <p:spPr>
          <a:xfrm>
            <a:off x="2482241" y="1847589"/>
            <a:ext cx="722751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3200" dirty="0">
                <a:latin typeface="Segoe UI" panose="020B0502040204020203" pitchFamily="34" charset="0"/>
                <a:cs typeface="Segoe UI" panose="020B0502040204020203" pitchFamily="34" charset="0"/>
              </a:rPr>
              <a:t>Revenue is </a:t>
            </a:r>
            <a:r>
              <a:rPr lang="en-ZA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seasonal</a:t>
            </a:r>
            <a:r>
              <a:rPr lang="en-ZA" sz="3200" dirty="0">
                <a:latin typeface="Segoe UI" panose="020B0502040204020203" pitchFamily="34" charset="0"/>
                <a:cs typeface="Segoe UI" panose="020B0502040204020203" pitchFamily="34" charset="0"/>
              </a:rPr>
              <a:t>, peaking in September.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3200" dirty="0">
                <a:latin typeface="Segoe UI" panose="020B0502040204020203" pitchFamily="34" charset="0"/>
                <a:cs typeface="Segoe UI" panose="020B0502040204020203" pitchFamily="34" charset="0"/>
              </a:rPr>
              <a:t>Sales are </a:t>
            </a:r>
            <a:r>
              <a:rPr lang="en-ZA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highly concentrated</a:t>
            </a:r>
            <a:r>
              <a:rPr lang="en-ZA" sz="3200" dirty="0">
                <a:latin typeface="Segoe UI" panose="020B0502040204020203" pitchFamily="34" charset="0"/>
                <a:cs typeface="Segoe UI" panose="020B0502040204020203" pitchFamily="34" charset="0"/>
              </a:rPr>
              <a:t> among top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3200" dirty="0">
                <a:latin typeface="Segoe UI" panose="020B0502040204020203" pitchFamily="34" charset="0"/>
                <a:cs typeface="Segoe UI" panose="020B0502040204020203" pitchFamily="34" charset="0"/>
              </a:rPr>
              <a:t>Product revenue is driven by a </a:t>
            </a:r>
            <a:r>
              <a:rPr lang="en-ZA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small subset of SKUs.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3200" dirty="0">
                <a:latin typeface="Segoe UI" panose="020B0502040204020203" pitchFamily="34" charset="0"/>
                <a:cs typeface="Segoe UI" panose="020B0502040204020203" pitchFamily="34" charset="0"/>
              </a:rPr>
              <a:t>UK dominates both </a:t>
            </a:r>
            <a:r>
              <a:rPr lang="en-ZA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and customer count</a:t>
            </a:r>
            <a:endParaRPr lang="en-ZA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13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3B5D-A57C-415E-8EA0-AC0615D1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047"/>
            <a:ext cx="10515600" cy="1325563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ZA" sz="4800" b="1" u="sng" cap="none" dirty="0">
                <a:ln/>
                <a:solidFill>
                  <a:srgbClr val="FF9900"/>
                </a:solidFill>
                <a:latin typeface="Segoe UI Bold" panose="020B0802040204020203" pitchFamily="34" charset="0"/>
                <a:cs typeface="Segoe UI Bold" panose="020B0802040204020203" pitchFamily="34" charset="0"/>
              </a:rPr>
              <a:t>Recommendations &amp; Next Steps: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CC54E-379C-40CA-BBC5-B2C55A03AF5A}"/>
              </a:ext>
            </a:extLst>
          </p:cNvPr>
          <p:cNvSpPr txBox="1"/>
          <p:nvPr/>
        </p:nvSpPr>
        <p:spPr>
          <a:xfrm>
            <a:off x="2458769" y="1719154"/>
            <a:ext cx="72744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n w="13462">
                  <a:solidFill>
                    <a:srgbClr val="FF9900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Strengthen </a:t>
            </a:r>
            <a:r>
              <a:rPr lang="en-ZA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customer retention</a:t>
            </a: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 to reduce revenue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Introduce </a:t>
            </a:r>
            <a:r>
              <a:rPr lang="en-ZA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off-peak promotions</a:t>
            </a: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 to smooth seasonal volatility.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Expand </a:t>
            </a:r>
            <a:r>
              <a:rPr lang="en-ZA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localized marketing in the UK.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Bundle or promote mid-tier products to diversify revenue</a:t>
            </a:r>
            <a:r>
              <a:rPr lang="en-ZA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ZA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1C842-71EB-4618-BC2A-5AB62EF2A19F}"/>
              </a:ext>
            </a:extLst>
          </p:cNvPr>
          <p:cNvSpPr txBox="1"/>
          <p:nvPr/>
        </p:nvSpPr>
        <p:spPr>
          <a:xfrm>
            <a:off x="2458769" y="4639695"/>
            <a:ext cx="83172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n w="13462">
                  <a:solidFill>
                    <a:srgbClr val="FF9900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Next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Monitor customer churn monthly.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Track product performance post-promotion.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latin typeface="Segoe UI" panose="020B0502040204020203" pitchFamily="34" charset="0"/>
                <a:cs typeface="Segoe UI" panose="020B0502040204020203" pitchFamily="34" charset="0"/>
              </a:rPr>
              <a:t>Expand customer acquisition in top regions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225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670</TotalTime>
  <Words>1061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Segoe UI Bold</vt:lpstr>
      <vt:lpstr>Wingdings 3</vt:lpstr>
      <vt:lpstr>Slice</vt:lpstr>
      <vt:lpstr>2024 Sales Performance &amp; Customer Insights </vt:lpstr>
      <vt:lpstr>PowerPoint Presentation</vt:lpstr>
      <vt:lpstr>OVERALL SALES PERFORMANCE- 2024</vt:lpstr>
      <vt:lpstr>       Monthly Revenue Trend (2024)</vt:lpstr>
      <vt:lpstr>       Top Revenue-Generating Products</vt:lpstr>
      <vt:lpstr>Revenue by Country</vt:lpstr>
      <vt:lpstr> Customer Concentration Analysis</vt:lpstr>
      <vt:lpstr>Unique Customers by Country</vt:lpstr>
      <vt:lpstr>Key Insights:</vt:lpstr>
      <vt:lpstr>Recommendations &amp; Next Steps: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Inette Badenhorst</dc:creator>
  <cp:lastModifiedBy>inette.badenhorst.ib@gmail.com</cp:lastModifiedBy>
  <cp:revision>43</cp:revision>
  <dcterms:created xsi:type="dcterms:W3CDTF">2025-12-11T13:54:55Z</dcterms:created>
  <dcterms:modified xsi:type="dcterms:W3CDTF">2026-01-12T07:59:56Z</dcterms:modified>
</cp:coreProperties>
</file>